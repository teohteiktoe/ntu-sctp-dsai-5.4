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32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g2GcT/B7Kd1++F1JTJO0iVhKqU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27F537F-2D07-42D8-9D2D-8AD7FE111F6A}">
  <a:tblStyle styleId="{727F537F-2D07-42D8-9D2D-8AD7FE111F6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3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ustom Layout">
  <p:cSld name="2_Custom Layou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/>
          <p:nvPr>
            <p:ph type="title"/>
          </p:nvPr>
        </p:nvSpPr>
        <p:spPr>
          <a:xfrm>
            <a:off x="457200" y="5636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58153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food, sign&#10;&#10;Description automatically generated" id="21" name="Google Shape;2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5" y="0"/>
            <a:ext cx="914257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type="title"/>
          </p:nvPr>
        </p:nvSpPr>
        <p:spPr>
          <a:xfrm>
            <a:off x="457200" y="5636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" type="body"/>
          </p:nvPr>
        </p:nvSpPr>
        <p:spPr>
          <a:xfrm>
            <a:off x="457200" y="1889196"/>
            <a:ext cx="8229600" cy="38761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0" type="dt"/>
          </p:nvPr>
        </p:nvSpPr>
        <p:spPr>
          <a:xfrm>
            <a:off x="457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457200" y="5636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0" type="dt"/>
          </p:nvPr>
        </p:nvSpPr>
        <p:spPr>
          <a:xfrm>
            <a:off x="457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2" type="sldNum"/>
          </p:nvPr>
        </p:nvSpPr>
        <p:spPr>
          <a:xfrm>
            <a:off x="6553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5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 txBox="1"/>
          <p:nvPr>
            <p:ph idx="10" type="dt"/>
          </p:nvPr>
        </p:nvSpPr>
        <p:spPr>
          <a:xfrm>
            <a:off x="457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6553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16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/>
          <p:nvPr>
            <p:ph type="title"/>
          </p:nvPr>
        </p:nvSpPr>
        <p:spPr>
          <a:xfrm>
            <a:off x="457200" y="4406902"/>
            <a:ext cx="82296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" type="body"/>
          </p:nvPr>
        </p:nvSpPr>
        <p:spPr>
          <a:xfrm>
            <a:off x="457200" y="2906713"/>
            <a:ext cx="8229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457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6553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457200" y="5636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4325" lvl="3" marL="1828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indent="-314325" lvl="4" marL="22860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indent="-314325" lvl="5" marL="27432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indent="-314325" lvl="6" marL="32004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indent="-314325" lvl="7" marL="3657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indent="-314325" lvl="8" marL="4114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4325" lvl="3" marL="1828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indent="-314325" lvl="4" marL="22860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indent="-314325" lvl="5" marL="27432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indent="-314325" lvl="6" marL="32004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indent="-314325" lvl="7" marL="3657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indent="-314325" lvl="8" marL="4114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/>
        </p:txBody>
      </p:sp>
      <p:sp>
        <p:nvSpPr>
          <p:cNvPr id="48" name="Google Shape;48;p18"/>
          <p:cNvSpPr txBox="1"/>
          <p:nvPr>
            <p:ph idx="10" type="dt"/>
          </p:nvPr>
        </p:nvSpPr>
        <p:spPr>
          <a:xfrm>
            <a:off x="457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2" type="sldNum"/>
          </p:nvPr>
        </p:nvSpPr>
        <p:spPr>
          <a:xfrm>
            <a:off x="6553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/>
          <p:nvPr>
            <p:ph type="title"/>
          </p:nvPr>
        </p:nvSpPr>
        <p:spPr>
          <a:xfrm>
            <a:off x="457200" y="5636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" type="body"/>
          </p:nvPr>
        </p:nvSpPr>
        <p:spPr>
          <a:xfrm>
            <a:off x="457200" y="1854994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3" name="Google Shape;53;p19"/>
          <p:cNvSpPr txBox="1"/>
          <p:nvPr>
            <p:ph idx="2" type="body"/>
          </p:nvPr>
        </p:nvSpPr>
        <p:spPr>
          <a:xfrm>
            <a:off x="457200" y="2494758"/>
            <a:ext cx="4040188" cy="3628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4325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54" name="Google Shape;54;p19"/>
          <p:cNvSpPr txBox="1"/>
          <p:nvPr>
            <p:ph idx="3" type="body"/>
          </p:nvPr>
        </p:nvSpPr>
        <p:spPr>
          <a:xfrm>
            <a:off x="4645026" y="1854994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5" name="Google Shape;55;p19"/>
          <p:cNvSpPr txBox="1"/>
          <p:nvPr>
            <p:ph idx="4" type="body"/>
          </p:nvPr>
        </p:nvSpPr>
        <p:spPr>
          <a:xfrm>
            <a:off x="4645026" y="2494758"/>
            <a:ext cx="4041775" cy="3628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4325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56" name="Google Shape;56;p19"/>
          <p:cNvSpPr txBox="1"/>
          <p:nvPr>
            <p:ph idx="10" type="dt"/>
          </p:nvPr>
        </p:nvSpPr>
        <p:spPr>
          <a:xfrm>
            <a:off x="457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1" type="ftr"/>
          </p:nvPr>
        </p:nvSpPr>
        <p:spPr>
          <a:xfrm>
            <a:off x="3124200" y="58153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9"/>
          <p:cNvSpPr txBox="1"/>
          <p:nvPr>
            <p:ph idx="12" type="sldNum"/>
          </p:nvPr>
        </p:nvSpPr>
        <p:spPr>
          <a:xfrm>
            <a:off x="6553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0"/>
          <p:cNvSpPr txBox="1"/>
          <p:nvPr>
            <p:ph type="title"/>
          </p:nvPr>
        </p:nvSpPr>
        <p:spPr>
          <a:xfrm>
            <a:off x="457200" y="5636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0"/>
          <p:cNvSpPr txBox="1"/>
          <p:nvPr>
            <p:ph idx="10" type="dt"/>
          </p:nvPr>
        </p:nvSpPr>
        <p:spPr>
          <a:xfrm>
            <a:off x="457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0"/>
          <p:cNvSpPr txBox="1"/>
          <p:nvPr>
            <p:ph idx="11" type="ftr"/>
          </p:nvPr>
        </p:nvSpPr>
        <p:spPr>
          <a:xfrm>
            <a:off x="3124200" y="58153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2" type="sldNum"/>
          </p:nvPr>
        </p:nvSpPr>
        <p:spPr>
          <a:xfrm>
            <a:off x="6553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58153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1" y="788618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>
            <a:off x="3575050" y="788620"/>
            <a:ext cx="5111750" cy="53982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71" name="Google Shape;71;p22"/>
          <p:cNvSpPr txBox="1"/>
          <p:nvPr>
            <p:ph idx="2" type="body"/>
          </p:nvPr>
        </p:nvSpPr>
        <p:spPr>
          <a:xfrm>
            <a:off x="457201" y="2125147"/>
            <a:ext cx="3008313" cy="4061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indent="-228600" lvl="1" marL="914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72" name="Google Shape;72;p22"/>
          <p:cNvSpPr txBox="1"/>
          <p:nvPr>
            <p:ph idx="10" type="dt"/>
          </p:nvPr>
        </p:nvSpPr>
        <p:spPr>
          <a:xfrm>
            <a:off x="457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1" type="ftr"/>
          </p:nvPr>
        </p:nvSpPr>
        <p:spPr>
          <a:xfrm>
            <a:off x="3124200" y="58153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2" type="sldNum"/>
          </p:nvPr>
        </p:nvSpPr>
        <p:spPr>
          <a:xfrm>
            <a:off x="6553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indent="-228600" lvl="1" marL="914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79" name="Google Shape;79;p23"/>
          <p:cNvSpPr txBox="1"/>
          <p:nvPr>
            <p:ph idx="10" type="dt"/>
          </p:nvPr>
        </p:nvSpPr>
        <p:spPr>
          <a:xfrm>
            <a:off x="457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1" type="ftr"/>
          </p:nvPr>
        </p:nvSpPr>
        <p:spPr>
          <a:xfrm>
            <a:off x="3124200" y="58153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2" type="sldNum"/>
          </p:nvPr>
        </p:nvSpPr>
        <p:spPr>
          <a:xfrm>
            <a:off x="6553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4"/>
          <p:cNvSpPr txBox="1"/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4" name="Google Shape;84;p2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4"/>
          <p:cNvSpPr txBox="1"/>
          <p:nvPr>
            <p:ph idx="12" type="sldNum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buClr>
                <a:srgbClr val="888888"/>
              </a:buClr>
              <a:buSzPts val="900"/>
              <a:buFont typeface="Arial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buClr>
                <a:srgbClr val="888888"/>
              </a:buClr>
              <a:buSzPts val="900"/>
              <a:buFont typeface="Arial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buClr>
                <a:srgbClr val="888888"/>
              </a:buClr>
              <a:buSzPts val="900"/>
              <a:buFont typeface="Arial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buClr>
                <a:srgbClr val="888888"/>
              </a:buClr>
              <a:buSzPts val="900"/>
              <a:buFont typeface="Arial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buClr>
                <a:srgbClr val="888888"/>
              </a:buClr>
              <a:buSzPts val="900"/>
              <a:buFont typeface="Arial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buClr>
                <a:srgbClr val="888888"/>
              </a:buClr>
              <a:buSzPts val="900"/>
              <a:buFont typeface="Arial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buClr>
                <a:srgbClr val="888888"/>
              </a:buClr>
              <a:buSzPts val="900"/>
              <a:buFont typeface="Arial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buClr>
                <a:srgbClr val="888888"/>
              </a:buClr>
              <a:buSzPts val="900"/>
              <a:buFont typeface="Arial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buClr>
                <a:srgbClr val="888888"/>
              </a:buClr>
              <a:buSzPts val="900"/>
              <a:buFont typeface="Arial"/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collage" showMasterSp="0">
  <p:cSld name="image collage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5"/>
          <p:cNvSpPr/>
          <p:nvPr>
            <p:ph idx="2" type="pic"/>
          </p:nvPr>
        </p:nvSpPr>
        <p:spPr>
          <a:xfrm>
            <a:off x="13029" y="4"/>
            <a:ext cx="3014587" cy="6827185"/>
          </a:xfrm>
          <a:prstGeom prst="rect">
            <a:avLst/>
          </a:prstGeom>
          <a:solidFill>
            <a:schemeClr val="lt1"/>
          </a:solidFill>
          <a:ln cap="flat" cmpd="sng" w="190500">
            <a:solidFill>
              <a:schemeClr val="dk1"/>
            </a:solidFill>
            <a:prstDash val="solid"/>
            <a:bevel/>
            <a:headEnd len="sm" w="sm" type="none"/>
            <a:tailEnd len="sm" w="sm" type="none"/>
          </a:ln>
        </p:spPr>
      </p:sp>
      <p:sp>
        <p:nvSpPr>
          <p:cNvPr id="88" name="Google Shape;88;p25"/>
          <p:cNvSpPr/>
          <p:nvPr>
            <p:ph idx="3" type="pic"/>
          </p:nvPr>
        </p:nvSpPr>
        <p:spPr>
          <a:xfrm>
            <a:off x="3027620" y="2"/>
            <a:ext cx="2903631" cy="3804835"/>
          </a:xfrm>
          <a:prstGeom prst="rect">
            <a:avLst/>
          </a:prstGeom>
          <a:solidFill>
            <a:schemeClr val="lt1"/>
          </a:solidFill>
          <a:ln cap="flat" cmpd="sng" w="190500">
            <a:solidFill>
              <a:schemeClr val="dk1"/>
            </a:solidFill>
            <a:prstDash val="solid"/>
            <a:bevel/>
            <a:headEnd len="sm" w="sm" type="none"/>
            <a:tailEnd len="sm" w="sm" type="none"/>
          </a:ln>
        </p:spPr>
      </p:sp>
      <p:sp>
        <p:nvSpPr>
          <p:cNvPr id="89" name="Google Shape;89;p25"/>
          <p:cNvSpPr/>
          <p:nvPr>
            <p:ph idx="4" type="pic"/>
          </p:nvPr>
        </p:nvSpPr>
        <p:spPr>
          <a:xfrm>
            <a:off x="3027620" y="3804841"/>
            <a:ext cx="2903631" cy="3022351"/>
          </a:xfrm>
          <a:prstGeom prst="rect">
            <a:avLst/>
          </a:prstGeom>
          <a:solidFill>
            <a:schemeClr val="lt1"/>
          </a:solidFill>
          <a:ln cap="flat" cmpd="sng" w="190500">
            <a:solidFill>
              <a:schemeClr val="dk1"/>
            </a:solidFill>
            <a:prstDash val="solid"/>
            <a:bevel/>
            <a:headEnd len="sm" w="sm" type="none"/>
            <a:tailEnd len="sm" w="sm" type="none"/>
          </a:ln>
        </p:spPr>
      </p:sp>
      <p:sp>
        <p:nvSpPr>
          <p:cNvPr id="90" name="Google Shape;90;p25"/>
          <p:cNvSpPr/>
          <p:nvPr>
            <p:ph idx="5" type="pic"/>
          </p:nvPr>
        </p:nvSpPr>
        <p:spPr>
          <a:xfrm>
            <a:off x="5931249" y="-1"/>
            <a:ext cx="3238500" cy="2378991"/>
          </a:xfrm>
          <a:prstGeom prst="rect">
            <a:avLst/>
          </a:prstGeom>
          <a:solidFill>
            <a:schemeClr val="lt1"/>
          </a:solidFill>
          <a:ln cap="flat" cmpd="sng" w="190500">
            <a:solidFill>
              <a:schemeClr val="dk1"/>
            </a:solidFill>
            <a:prstDash val="solid"/>
            <a:bevel/>
            <a:headEnd len="sm" w="sm" type="none"/>
            <a:tailEnd len="sm" w="sm" type="none"/>
          </a:ln>
        </p:spPr>
      </p:sp>
      <p:sp>
        <p:nvSpPr>
          <p:cNvPr id="91" name="Google Shape;91;p25"/>
          <p:cNvSpPr/>
          <p:nvPr>
            <p:ph idx="6" type="pic"/>
          </p:nvPr>
        </p:nvSpPr>
        <p:spPr>
          <a:xfrm>
            <a:off x="5931249" y="2378994"/>
            <a:ext cx="3238500" cy="4448195"/>
          </a:xfrm>
          <a:prstGeom prst="rect">
            <a:avLst/>
          </a:prstGeom>
          <a:solidFill>
            <a:schemeClr val="lt1"/>
          </a:solidFill>
          <a:ln cap="flat" cmpd="sng" w="190500">
            <a:solidFill>
              <a:schemeClr val="dk1"/>
            </a:solidFill>
            <a:prstDash val="solid"/>
            <a:bevel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6"/>
          <p:cNvSpPr/>
          <p:nvPr/>
        </p:nvSpPr>
        <p:spPr>
          <a:xfrm>
            <a:off x="381000" y="3048000"/>
            <a:ext cx="4648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525" lIns="69050" spcFirstLastPara="1" rIns="69050" wrap="square" tIns="345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080"/>
              <a:buFont typeface="Noto Sans Symbols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Eibe Frank</a:t>
            </a:r>
            <a:endParaRPr/>
          </a:p>
        </p:txBody>
      </p:sp>
      <p:cxnSp>
        <p:nvCxnSpPr>
          <p:cNvPr id="94" name="Google Shape;94;p26"/>
          <p:cNvCxnSpPr/>
          <p:nvPr/>
        </p:nvCxnSpPr>
        <p:spPr>
          <a:xfrm>
            <a:off x="5562600" y="990600"/>
            <a:ext cx="0" cy="4800600"/>
          </a:xfrm>
          <a:prstGeom prst="straightConnector1">
            <a:avLst/>
          </a:prstGeom>
          <a:noFill/>
          <a:ln cap="flat" cmpd="sng" w="9525">
            <a:solidFill>
              <a:srgbClr val="0033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26"/>
          <p:cNvSpPr txBox="1"/>
          <p:nvPr/>
        </p:nvSpPr>
        <p:spPr>
          <a:xfrm>
            <a:off x="5699126" y="650875"/>
            <a:ext cx="329247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1" sz="18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26"/>
          <p:cNvSpPr/>
          <p:nvPr/>
        </p:nvSpPr>
        <p:spPr>
          <a:xfrm>
            <a:off x="5867400" y="990600"/>
            <a:ext cx="2971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525" lIns="69050" spcFirstLastPara="1" rIns="69050" wrap="square" tIns="34525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900"/>
              <a:buFont typeface="Noto Sans Symbols"/>
              <a:buChar char="■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WEKA: A Machine Learning Toolkit</a:t>
            </a:r>
            <a:endParaRPr/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chemeClr val="hlink"/>
              </a:buClr>
              <a:buSzPts val="900"/>
              <a:buFont typeface="Noto Sans Symbols"/>
              <a:buChar char="■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Explorer</a:t>
            </a:r>
            <a:endParaRPr/>
          </a:p>
          <a:p>
            <a:pPr indent="-285750" lvl="1" marL="74295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Classification and Regression</a:t>
            </a:r>
            <a:endParaRPr/>
          </a:p>
          <a:p>
            <a:pPr indent="-285750" lvl="1" marL="74295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Clustering</a:t>
            </a:r>
            <a:endParaRPr/>
          </a:p>
          <a:p>
            <a:pPr indent="-285750" lvl="1" marL="74295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Association Rules</a:t>
            </a:r>
            <a:endParaRPr/>
          </a:p>
          <a:p>
            <a:pPr indent="-285750" lvl="1" marL="74295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 Selection</a:t>
            </a:r>
            <a:endParaRPr/>
          </a:p>
          <a:p>
            <a:pPr indent="-285750" lvl="1" marL="74295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Times"/>
              <a:buChar char="•"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Visualization</a:t>
            </a:r>
            <a:endParaRPr/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chemeClr val="hlink"/>
              </a:buClr>
              <a:buSzPts val="900"/>
              <a:buFont typeface="Noto Sans Symbols"/>
              <a:buChar char="■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Experimenter</a:t>
            </a:r>
            <a:endParaRPr/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chemeClr val="hlink"/>
              </a:buClr>
              <a:buSzPts val="900"/>
              <a:buFont typeface="Noto Sans Symbols"/>
              <a:buChar char="■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Knowledge Flow GUI</a:t>
            </a:r>
            <a:endParaRPr/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chemeClr val="hlink"/>
              </a:buClr>
              <a:buSzPts val="900"/>
              <a:buFont typeface="Noto Sans Symbols"/>
              <a:buChar char="■"/>
            </a:pPr>
            <a:r>
              <a:rPr lang="en-US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Conclusions</a:t>
            </a:r>
            <a:endParaRPr/>
          </a:p>
        </p:txBody>
      </p:sp>
      <p:sp>
        <p:nvSpPr>
          <p:cNvPr id="97" name="Google Shape;97;p26"/>
          <p:cNvSpPr txBox="1"/>
          <p:nvPr>
            <p:ph type="ctrTitle"/>
          </p:nvPr>
        </p:nvSpPr>
        <p:spPr>
          <a:xfrm>
            <a:off x="228600" y="1066800"/>
            <a:ext cx="51054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Times New Roman"/>
              <a:buNone/>
              <a:defRPr b="0" sz="27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5">
  <p:cSld name="Content slide 5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7"/>
          <p:cNvSpPr txBox="1"/>
          <p:nvPr>
            <p:ph idx="1" type="body"/>
          </p:nvPr>
        </p:nvSpPr>
        <p:spPr>
          <a:xfrm>
            <a:off x="358912" y="643063"/>
            <a:ext cx="1463666" cy="31315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0F56A6"/>
              </a:buClr>
              <a:buSzPts val="1435"/>
              <a:buFont typeface="Arial"/>
              <a:buNone/>
              <a:defRPr sz="1435">
                <a:solidFill>
                  <a:srgbClr val="0F56A6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2" type="body"/>
          </p:nvPr>
        </p:nvSpPr>
        <p:spPr>
          <a:xfrm>
            <a:off x="358914" y="1113800"/>
            <a:ext cx="1098378" cy="1962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Clr>
                <a:srgbClr val="8D8D8D"/>
              </a:buClr>
              <a:buSzPts val="675"/>
              <a:buFont typeface="Arial"/>
              <a:buNone/>
              <a:defRPr b="1" sz="675">
                <a:solidFill>
                  <a:srgbClr val="8D8D8D"/>
                </a:solidFill>
              </a:defRPr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2" type="sldNum"/>
          </p:nvPr>
        </p:nvSpPr>
        <p:spPr>
          <a:xfrm>
            <a:off x="6553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over Text" type="objOverTx">
  <p:cSld name="OBJECT_OVER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8"/>
          <p:cNvSpPr txBox="1"/>
          <p:nvPr>
            <p:ph type="title"/>
          </p:nvPr>
        </p:nvSpPr>
        <p:spPr>
          <a:xfrm>
            <a:off x="304800" y="381000"/>
            <a:ext cx="8402638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8"/>
          <p:cNvSpPr txBox="1"/>
          <p:nvPr>
            <p:ph idx="1" type="body"/>
          </p:nvPr>
        </p:nvSpPr>
        <p:spPr>
          <a:xfrm>
            <a:off x="304800" y="1371600"/>
            <a:ext cx="84582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28"/>
          <p:cNvSpPr txBox="1"/>
          <p:nvPr>
            <p:ph idx="2" type="body"/>
          </p:nvPr>
        </p:nvSpPr>
        <p:spPr>
          <a:xfrm>
            <a:off x="304800" y="4000500"/>
            <a:ext cx="84582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28"/>
          <p:cNvSpPr txBox="1"/>
          <p:nvPr>
            <p:ph idx="12" type="sldNum"/>
          </p:nvPr>
        </p:nvSpPr>
        <p:spPr>
          <a:xfrm>
            <a:off x="6553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zoom dir="out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9"/>
          <p:cNvSpPr txBox="1"/>
          <p:nvPr>
            <p:ph type="title"/>
          </p:nvPr>
        </p:nvSpPr>
        <p:spPr>
          <a:xfrm>
            <a:off x="457200" y="5636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9"/>
          <p:cNvSpPr txBox="1"/>
          <p:nvPr>
            <p:ph idx="10" type="dt"/>
          </p:nvPr>
        </p:nvSpPr>
        <p:spPr>
          <a:xfrm>
            <a:off x="457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9"/>
          <p:cNvSpPr txBox="1"/>
          <p:nvPr>
            <p:ph idx="11" type="ftr"/>
          </p:nvPr>
        </p:nvSpPr>
        <p:spPr>
          <a:xfrm>
            <a:off x="3124200" y="58153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9"/>
          <p:cNvSpPr txBox="1"/>
          <p:nvPr>
            <p:ph idx="12" type="sldNum"/>
          </p:nvPr>
        </p:nvSpPr>
        <p:spPr>
          <a:xfrm>
            <a:off x="6553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/>
          <p:cNvSpPr txBox="1"/>
          <p:nvPr>
            <p:ph type="title"/>
          </p:nvPr>
        </p:nvSpPr>
        <p:spPr>
          <a:xfrm>
            <a:off x="457200" y="5636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30"/>
          <p:cNvSpPr txBox="1"/>
          <p:nvPr>
            <p:ph idx="10" type="dt"/>
          </p:nvPr>
        </p:nvSpPr>
        <p:spPr>
          <a:xfrm>
            <a:off x="457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0"/>
          <p:cNvSpPr txBox="1"/>
          <p:nvPr>
            <p:ph idx="11" type="ftr"/>
          </p:nvPr>
        </p:nvSpPr>
        <p:spPr>
          <a:xfrm>
            <a:off x="3124200" y="58153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0"/>
          <p:cNvSpPr txBox="1"/>
          <p:nvPr>
            <p:ph idx="12" type="sldNum"/>
          </p:nvPr>
        </p:nvSpPr>
        <p:spPr>
          <a:xfrm>
            <a:off x="6553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picture containing food, sign&#10;&#10;Description automatically generated" id="117" name="Google Shape;11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5" y="0"/>
            <a:ext cx="914257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1"/>
          <p:cNvSpPr txBox="1"/>
          <p:nvPr>
            <p:ph type="title"/>
          </p:nvPr>
        </p:nvSpPr>
        <p:spPr>
          <a:xfrm>
            <a:off x="457200" y="5636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1"/>
          <p:cNvSpPr txBox="1"/>
          <p:nvPr>
            <p:ph idx="10" type="dt"/>
          </p:nvPr>
        </p:nvSpPr>
        <p:spPr>
          <a:xfrm>
            <a:off x="457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1"/>
          <p:cNvSpPr txBox="1"/>
          <p:nvPr>
            <p:ph idx="12" type="sldNum"/>
          </p:nvPr>
        </p:nvSpPr>
        <p:spPr>
          <a:xfrm>
            <a:off x="6553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2"/>
          <p:cNvSpPr txBox="1"/>
          <p:nvPr>
            <p:ph idx="10" type="dt"/>
          </p:nvPr>
        </p:nvSpPr>
        <p:spPr>
          <a:xfrm>
            <a:off x="457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32"/>
          <p:cNvSpPr txBox="1"/>
          <p:nvPr>
            <p:ph idx="12" type="sldNum"/>
          </p:nvPr>
        </p:nvSpPr>
        <p:spPr>
          <a:xfrm>
            <a:off x="6553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" name="Google Shape;125;p32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3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3"/>
          <p:cNvSpPr txBox="1"/>
          <p:nvPr>
            <p:ph type="title"/>
          </p:nvPr>
        </p:nvSpPr>
        <p:spPr>
          <a:xfrm>
            <a:off x="457200" y="5636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33"/>
          <p:cNvSpPr txBox="1"/>
          <p:nvPr>
            <p:ph idx="1" type="body"/>
          </p:nvPr>
        </p:nvSpPr>
        <p:spPr>
          <a:xfrm>
            <a:off x="457200" y="1889196"/>
            <a:ext cx="8229600" cy="38761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33"/>
          <p:cNvSpPr txBox="1"/>
          <p:nvPr>
            <p:ph idx="10" type="dt"/>
          </p:nvPr>
        </p:nvSpPr>
        <p:spPr>
          <a:xfrm>
            <a:off x="457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3"/>
          <p:cNvSpPr txBox="1"/>
          <p:nvPr>
            <p:ph idx="12" type="sldNum"/>
          </p:nvPr>
        </p:nvSpPr>
        <p:spPr>
          <a:xfrm>
            <a:off x="6553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image collage" showMasterSp="0">
  <p:cSld name="1_image collage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4"/>
          <p:cNvSpPr/>
          <p:nvPr>
            <p:ph idx="2" type="pic"/>
          </p:nvPr>
        </p:nvSpPr>
        <p:spPr>
          <a:xfrm>
            <a:off x="13029" y="4"/>
            <a:ext cx="3014587" cy="6827185"/>
          </a:xfrm>
          <a:prstGeom prst="rect">
            <a:avLst/>
          </a:prstGeom>
          <a:solidFill>
            <a:schemeClr val="lt1"/>
          </a:solidFill>
          <a:ln cap="flat" cmpd="sng" w="190500">
            <a:solidFill>
              <a:schemeClr val="dk1"/>
            </a:solidFill>
            <a:prstDash val="solid"/>
            <a:bevel/>
            <a:headEnd len="sm" w="sm" type="none"/>
            <a:tailEnd len="sm" w="sm" type="none"/>
          </a:ln>
        </p:spPr>
      </p:sp>
      <p:sp>
        <p:nvSpPr>
          <p:cNvPr id="134" name="Google Shape;134;p34"/>
          <p:cNvSpPr/>
          <p:nvPr>
            <p:ph idx="3" type="pic"/>
          </p:nvPr>
        </p:nvSpPr>
        <p:spPr>
          <a:xfrm>
            <a:off x="3027620" y="2"/>
            <a:ext cx="2903631" cy="3804835"/>
          </a:xfrm>
          <a:prstGeom prst="rect">
            <a:avLst/>
          </a:prstGeom>
          <a:solidFill>
            <a:schemeClr val="lt1"/>
          </a:solidFill>
          <a:ln cap="flat" cmpd="sng" w="190500">
            <a:solidFill>
              <a:schemeClr val="dk1"/>
            </a:solidFill>
            <a:prstDash val="solid"/>
            <a:bevel/>
            <a:headEnd len="sm" w="sm" type="none"/>
            <a:tailEnd len="sm" w="sm" type="none"/>
          </a:ln>
        </p:spPr>
      </p:sp>
      <p:sp>
        <p:nvSpPr>
          <p:cNvPr id="135" name="Google Shape;135;p34"/>
          <p:cNvSpPr/>
          <p:nvPr>
            <p:ph idx="4" type="pic"/>
          </p:nvPr>
        </p:nvSpPr>
        <p:spPr>
          <a:xfrm>
            <a:off x="3027620" y="3804841"/>
            <a:ext cx="2903631" cy="3022351"/>
          </a:xfrm>
          <a:prstGeom prst="rect">
            <a:avLst/>
          </a:prstGeom>
          <a:solidFill>
            <a:schemeClr val="lt1"/>
          </a:solidFill>
          <a:ln cap="flat" cmpd="sng" w="190500">
            <a:solidFill>
              <a:schemeClr val="dk1"/>
            </a:solidFill>
            <a:prstDash val="solid"/>
            <a:bevel/>
            <a:headEnd len="sm" w="sm" type="none"/>
            <a:tailEnd len="sm" w="sm" type="none"/>
          </a:ln>
        </p:spPr>
      </p:sp>
      <p:sp>
        <p:nvSpPr>
          <p:cNvPr id="136" name="Google Shape;136;p34"/>
          <p:cNvSpPr/>
          <p:nvPr>
            <p:ph idx="5" type="pic"/>
          </p:nvPr>
        </p:nvSpPr>
        <p:spPr>
          <a:xfrm>
            <a:off x="5931249" y="-1"/>
            <a:ext cx="3238500" cy="2378991"/>
          </a:xfrm>
          <a:prstGeom prst="rect">
            <a:avLst/>
          </a:prstGeom>
          <a:solidFill>
            <a:schemeClr val="lt1"/>
          </a:solidFill>
          <a:ln cap="flat" cmpd="sng" w="190500">
            <a:solidFill>
              <a:schemeClr val="dk1"/>
            </a:solidFill>
            <a:prstDash val="solid"/>
            <a:bevel/>
            <a:headEnd len="sm" w="sm" type="none"/>
            <a:tailEnd len="sm" w="sm" type="none"/>
          </a:ln>
        </p:spPr>
      </p:sp>
      <p:sp>
        <p:nvSpPr>
          <p:cNvPr id="137" name="Google Shape;137;p34"/>
          <p:cNvSpPr/>
          <p:nvPr>
            <p:ph idx="6" type="pic"/>
          </p:nvPr>
        </p:nvSpPr>
        <p:spPr>
          <a:xfrm>
            <a:off x="5931249" y="2378994"/>
            <a:ext cx="3238500" cy="4448195"/>
          </a:xfrm>
          <a:prstGeom prst="rect">
            <a:avLst/>
          </a:prstGeom>
          <a:solidFill>
            <a:schemeClr val="lt1"/>
          </a:solidFill>
          <a:ln cap="flat" cmpd="sng" w="190500">
            <a:solidFill>
              <a:schemeClr val="dk1"/>
            </a:solidFill>
            <a:prstDash val="solid"/>
            <a:bevel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5"/>
          <p:cNvSpPr txBox="1"/>
          <p:nvPr>
            <p:ph type="title"/>
          </p:nvPr>
        </p:nvSpPr>
        <p:spPr>
          <a:xfrm>
            <a:off x="457200" y="5636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5"/>
          <p:cNvSpPr txBox="1"/>
          <p:nvPr>
            <p:ph idx="10" type="dt"/>
          </p:nvPr>
        </p:nvSpPr>
        <p:spPr>
          <a:xfrm>
            <a:off x="457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5"/>
          <p:cNvSpPr txBox="1"/>
          <p:nvPr>
            <p:ph idx="11" type="ftr"/>
          </p:nvPr>
        </p:nvSpPr>
        <p:spPr>
          <a:xfrm>
            <a:off x="3124200" y="58153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5"/>
          <p:cNvSpPr txBox="1"/>
          <p:nvPr>
            <p:ph idx="12" type="sldNum"/>
          </p:nvPr>
        </p:nvSpPr>
        <p:spPr>
          <a:xfrm>
            <a:off x="6553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6" Type="http://schemas.openxmlformats.org/officeDocument/2006/relationships/theme" Target="../theme/theme1.xml"/><Relationship Id="rId25" Type="http://schemas.openxmlformats.org/officeDocument/2006/relationships/slideLayout" Target="../slideLayouts/slideLayout24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457200" y="5636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57200" y="1889196"/>
            <a:ext cx="8229600" cy="38761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58153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5815375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NTU_PP_slide_Footer_sized.png" id="15" name="Google Shape;15;p1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327909"/>
            <a:ext cx="9144000" cy="53788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ttteoh@ntu.edu.s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hyperlink" Target="https://www.anthropic.com/news/model-context-protocol" TargetMode="External"/><Relationship Id="rId5" Type="http://schemas.openxmlformats.org/officeDocument/2006/relationships/hyperlink" Target="https://cloud.google.com/discover/what-is-model-context-protocol?hl=en" TargetMode="External"/><Relationship Id="rId6" Type="http://schemas.openxmlformats.org/officeDocument/2006/relationships/hyperlink" Target="https://github.com/punkpeye/awesome-mcp-servers?tab=readme-ov-file#file-systems" TargetMode="External"/><Relationship Id="rId7" Type="http://schemas.openxmlformats.org/officeDocument/2006/relationships/hyperlink" Target="https://modelcontextprotocol.io/" TargetMode="External"/><Relationship Id="rId8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hyperlink" Target="https://langchain-ai.github.io/langgraph/agents/mcp/" TargetMode="External"/><Relationship Id="rId5" Type="http://schemas.openxmlformats.org/officeDocument/2006/relationships/hyperlink" Target="https://langchain-ai.github.io/langgraph/agents/mcp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9" Type="http://schemas.openxmlformats.org/officeDocument/2006/relationships/image" Target="../media/image12.png"/><Relationship Id="rId5" Type="http://schemas.openxmlformats.org/officeDocument/2006/relationships/hyperlink" Target="https://developers.googleblog.com/en/a2a-a-new-era-of-agent-interoperability/" TargetMode="External"/><Relationship Id="rId6" Type="http://schemas.openxmlformats.org/officeDocument/2006/relationships/hyperlink" Target="https://aws.amazon.com/blogs/opensource/open-protocols-for-agent-interoperability-part-4-inter-agent-communication-on-a2a/" TargetMode="External"/><Relationship Id="rId7" Type="http://schemas.openxmlformats.org/officeDocument/2006/relationships/hyperlink" Target="https://github.com/a2aproject/A2A" TargetMode="External"/><Relationship Id="rId8" Type="http://schemas.openxmlformats.org/officeDocument/2006/relationships/image" Target="../media/image16.png"/><Relationship Id="rId10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ibm.com/think/topics/agent-communication-protocol" TargetMode="External"/><Relationship Id="rId4" Type="http://schemas.openxmlformats.org/officeDocument/2006/relationships/hyperlink" Target="https://agentcommunicationprotocol.dev/introduction/welcome" TargetMode="External"/><Relationship Id="rId5" Type="http://schemas.openxmlformats.org/officeDocument/2006/relationships/image" Target="../media/image19.png"/><Relationship Id="rId6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/>
        </p:nvSpPr>
        <p:spPr>
          <a:xfrm>
            <a:off x="371745" y="1853789"/>
            <a:ext cx="4393685" cy="2160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5.4 AI Communication Protocols</a:t>
            </a:r>
            <a:endParaRPr/>
          </a:p>
        </p:txBody>
      </p:sp>
      <p:sp>
        <p:nvSpPr>
          <p:cNvPr id="148" name="Google Shape;148;p1"/>
          <p:cNvSpPr txBox="1"/>
          <p:nvPr/>
        </p:nvSpPr>
        <p:spPr>
          <a:xfrm>
            <a:off x="533400" y="4495800"/>
            <a:ext cx="3756540" cy="1265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Teoh Teik Toe</a:t>
            </a:r>
            <a:endParaRPr/>
          </a:p>
          <a:p>
            <a:pPr indent="0" lvl="0" marL="0" marR="0" rtl="0" algn="l">
              <a:spcBef>
                <a:spcPts val="225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ITOM/NBS</a:t>
            </a:r>
            <a:endParaRPr/>
          </a:p>
          <a:p>
            <a:pPr indent="0" lvl="0" marL="0" marR="0" rtl="0" algn="l">
              <a:spcBef>
                <a:spcPts val="225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</a:pPr>
            <a:r>
              <a:rPr b="0" i="1" lang="en-US" sz="1125" u="sng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ttteoh@ntu.edu.sg</a:t>
            </a:r>
            <a:endParaRPr b="0" i="1" sz="1125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225"/>
              </a:spcBef>
              <a:spcAft>
                <a:spcPts val="0"/>
              </a:spcAft>
              <a:buClr>
                <a:schemeClr val="lt1"/>
              </a:buClr>
              <a:buSzPts val="1125"/>
              <a:buFont typeface="Arial"/>
              <a:buNone/>
            </a:pPr>
            <a:r>
              <a:rPr b="0" i="1" lang="en-US" sz="1125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97905202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2783" y="742202"/>
            <a:ext cx="2345148" cy="244755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"/>
          <p:cNvSpPr txBox="1"/>
          <p:nvPr/>
        </p:nvSpPr>
        <p:spPr>
          <a:xfrm>
            <a:off x="5902658" y="198650"/>
            <a:ext cx="28182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Wechat: TeohTeikToe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147741" y="198649"/>
            <a:ext cx="325954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Whatsapp: 65-97905202</a:t>
            </a:r>
            <a:endParaRPr/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512" y="660314"/>
            <a:ext cx="2588807" cy="2754489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"/>
          <p:cNvSpPr txBox="1"/>
          <p:nvPr/>
        </p:nvSpPr>
        <p:spPr>
          <a:xfrm>
            <a:off x="2160913" y="5756854"/>
            <a:ext cx="635985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https://www.linkedin.com/in/teohteiktoe</a:t>
            </a:r>
            <a:endParaRPr/>
          </a:p>
        </p:txBody>
      </p:sp>
      <p:pic>
        <p:nvPicPr>
          <p:cNvPr id="158" name="Google Shape;158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87885" y="3138984"/>
            <a:ext cx="2531131" cy="2617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"/>
          <p:cNvSpPr txBox="1"/>
          <p:nvPr>
            <p:ph type="title"/>
          </p:nvPr>
        </p:nvSpPr>
        <p:spPr>
          <a:xfrm>
            <a:off x="457200" y="135974"/>
            <a:ext cx="8229600" cy="956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b="1" lang="en-US"/>
              <a:t>What are AI Communication Protocols?</a:t>
            </a:r>
            <a:endParaRPr/>
          </a:p>
        </p:txBody>
      </p:sp>
      <p:sp>
        <p:nvSpPr>
          <p:cNvPr id="164" name="Google Shape;164;p3"/>
          <p:cNvSpPr txBox="1"/>
          <p:nvPr/>
        </p:nvSpPr>
        <p:spPr>
          <a:xfrm>
            <a:off x="452202" y="964086"/>
            <a:ext cx="3884176" cy="5144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Standardized sets of rules and formats (JSON schema)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enable different AI systems, agents, and external tools to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interact and exchange information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effectively.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are the "languages" that allow for a cohesive, scalable AI ecosystem. Instead of a messy network of custom integrations, protocols create a </a:t>
            </a: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unified way for AI components from different frameworks to work together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descr="A diagram of a communication protocol&#10;&#10;AI-generated content may be incorrect." id="165" name="Google Shape;165;p3"/>
          <p:cNvPicPr preferRelativeResize="0"/>
          <p:nvPr/>
        </p:nvPicPr>
        <p:blipFill rotWithShape="1">
          <a:blip r:embed="rId3">
            <a:alphaModFix/>
          </a:blip>
          <a:srcRect b="3105" l="2276" r="6570" t="9215"/>
          <a:stretch/>
        </p:blipFill>
        <p:spPr>
          <a:xfrm>
            <a:off x="4338678" y="1400354"/>
            <a:ext cx="4445330" cy="4275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"/>
          <p:cNvSpPr txBox="1"/>
          <p:nvPr>
            <p:ph type="title"/>
          </p:nvPr>
        </p:nvSpPr>
        <p:spPr>
          <a:xfrm>
            <a:off x="457200" y="135974"/>
            <a:ext cx="8229600" cy="956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b="1" lang="en-US"/>
              <a:t>MCP vs A2A vs ACP</a:t>
            </a:r>
            <a:endParaRPr/>
          </a:p>
        </p:txBody>
      </p:sp>
      <p:pic>
        <p:nvPicPr>
          <p:cNvPr id="171" name="Google Shape;17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032" y="1010494"/>
            <a:ext cx="8542742" cy="4796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 txBox="1"/>
          <p:nvPr>
            <p:ph type="title"/>
          </p:nvPr>
        </p:nvSpPr>
        <p:spPr>
          <a:xfrm>
            <a:off x="457200" y="135974"/>
            <a:ext cx="8229600" cy="824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b="1" lang="en-US"/>
              <a:t>Model Context Protocol (MCP)</a:t>
            </a:r>
            <a:endParaRPr/>
          </a:p>
        </p:txBody>
      </p:sp>
      <p:pic>
        <p:nvPicPr>
          <p:cNvPr descr="A black letter with white text&#10;&#10;AI-generated content may be incorrect." id="177" name="Google Shape;17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8855" y="963027"/>
            <a:ext cx="2417495" cy="26391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5"/>
          <p:cNvSpPr txBox="1"/>
          <p:nvPr/>
        </p:nvSpPr>
        <p:spPr>
          <a:xfrm>
            <a:off x="375605" y="5751413"/>
            <a:ext cx="8418415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Further Reading: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1. Introducing the Model Context Protocol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2. What is the MCP and how does it work?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3. List of Awesome MCP Servers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4. MCP Official Website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5"/>
          <p:cNvPicPr preferRelativeResize="0"/>
          <p:nvPr/>
        </p:nvPicPr>
        <p:blipFill rotWithShape="1">
          <a:blip r:embed="rId8">
            <a:alphaModFix/>
          </a:blip>
          <a:srcRect b="9037" l="2544" r="9956" t="483"/>
          <a:stretch/>
        </p:blipFill>
        <p:spPr>
          <a:xfrm>
            <a:off x="374257" y="831531"/>
            <a:ext cx="8385381" cy="4916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"/>
          <p:cNvSpPr txBox="1"/>
          <p:nvPr>
            <p:ph type="title"/>
          </p:nvPr>
        </p:nvSpPr>
        <p:spPr>
          <a:xfrm>
            <a:off x="457200" y="135974"/>
            <a:ext cx="8229600" cy="824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b="1" lang="en-US"/>
              <a:t>MCP vs API</a:t>
            </a:r>
            <a:endParaRPr/>
          </a:p>
        </p:txBody>
      </p:sp>
      <p:pic>
        <p:nvPicPr>
          <p:cNvPr id="185" name="Google Shape;185;p6" title="MCP vs API: Simplifying AI Agent Integration with External Data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7" y="967588"/>
            <a:ext cx="9135906" cy="5155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"/>
          <p:cNvSpPr txBox="1"/>
          <p:nvPr>
            <p:ph type="title"/>
          </p:nvPr>
        </p:nvSpPr>
        <p:spPr>
          <a:xfrm>
            <a:off x="457200" y="135974"/>
            <a:ext cx="8229600" cy="824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b="1" lang="en-US"/>
              <a:t>MCP in LangGraph</a:t>
            </a:r>
            <a:endParaRPr/>
          </a:p>
        </p:txBody>
      </p:sp>
      <p:pic>
        <p:nvPicPr>
          <p:cNvPr descr="A diagram of a computer client&#10;&#10;AI-generated content may be incorrect." id="191" name="Google Shape;1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009166"/>
            <a:ext cx="9144000" cy="3567953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 txBox="1"/>
          <p:nvPr/>
        </p:nvSpPr>
        <p:spPr>
          <a:xfrm>
            <a:off x="452202" y="1125927"/>
            <a:ext cx="823364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LangGraph agents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use tools defined on MCP servers through the langchain-mcp-adapters library.</a:t>
            </a:r>
            <a:endParaRPr/>
          </a:p>
        </p:txBody>
      </p:sp>
      <p:sp>
        <p:nvSpPr>
          <p:cNvPr id="193" name="Google Shape;193;p7"/>
          <p:cNvSpPr txBox="1"/>
          <p:nvPr/>
        </p:nvSpPr>
        <p:spPr>
          <a:xfrm>
            <a:off x="365490" y="5832333"/>
            <a:ext cx="84184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Further Reading: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Use MCP in LangGraph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  <a:hlinkClick r:id="rId5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diagram of a client&#10;&#10;AI-generated content may be incorrect." id="198" name="Google Shape;198;p8"/>
          <p:cNvPicPr preferRelativeResize="0"/>
          <p:nvPr/>
        </p:nvPicPr>
        <p:blipFill rotWithShape="1">
          <a:blip r:embed="rId3">
            <a:alphaModFix/>
          </a:blip>
          <a:srcRect b="11590" l="4191" r="6513" t="13437"/>
          <a:stretch/>
        </p:blipFill>
        <p:spPr>
          <a:xfrm>
            <a:off x="447847" y="1198170"/>
            <a:ext cx="4204620" cy="20962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2A Protocol diagram " id="199" name="Google Shape;199;p8"/>
          <p:cNvPicPr preferRelativeResize="0"/>
          <p:nvPr/>
        </p:nvPicPr>
        <p:blipFill rotWithShape="1">
          <a:blip r:embed="rId4">
            <a:alphaModFix/>
          </a:blip>
          <a:srcRect b="14117" l="-55" r="-221" t="11765"/>
          <a:stretch/>
        </p:blipFill>
        <p:spPr>
          <a:xfrm>
            <a:off x="1265896" y="3304358"/>
            <a:ext cx="5183465" cy="2111381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8"/>
          <p:cNvSpPr txBox="1"/>
          <p:nvPr>
            <p:ph type="title"/>
          </p:nvPr>
        </p:nvSpPr>
        <p:spPr>
          <a:xfrm>
            <a:off x="457200" y="135974"/>
            <a:ext cx="8229600" cy="956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b="1" lang="en-US"/>
              <a:t>Agent-to-Agent (A2A) Protocol </a:t>
            </a:r>
            <a:endParaRPr/>
          </a:p>
        </p:txBody>
      </p:sp>
      <p:sp>
        <p:nvSpPr>
          <p:cNvPr id="201" name="Google Shape;201;p8"/>
          <p:cNvSpPr txBox="1"/>
          <p:nvPr/>
        </p:nvSpPr>
        <p:spPr>
          <a:xfrm>
            <a:off x="365490" y="5640147"/>
            <a:ext cx="84184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Further Reading: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1. Announcing the Agent2Agent Protocol (A2A)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2. An overview of how A2A works in practice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3. Github Repository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olorful logo with text&#10;&#10;AI-generated content may be incorrect." id="202" name="Google Shape;202;p8"/>
          <p:cNvPicPr preferRelativeResize="0"/>
          <p:nvPr/>
        </p:nvPicPr>
        <p:blipFill rotWithShape="1">
          <a:blip r:embed="rId8">
            <a:alphaModFix/>
          </a:blip>
          <a:srcRect b="30530" l="22456" r="24004" t="32300"/>
          <a:stretch/>
        </p:blipFill>
        <p:spPr>
          <a:xfrm>
            <a:off x="547727" y="949298"/>
            <a:ext cx="1738486" cy="6036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iagram of security and authorization&#10;&#10;AI-generated content may be incorrect." id="203" name="Google Shape;203;p8"/>
          <p:cNvPicPr preferRelativeResize="0"/>
          <p:nvPr/>
        </p:nvPicPr>
        <p:blipFill rotWithShape="1">
          <a:blip r:embed="rId9">
            <a:alphaModFix/>
          </a:blip>
          <a:srcRect b="13161" l="3556" r="2972" t="11395"/>
          <a:stretch/>
        </p:blipFill>
        <p:spPr>
          <a:xfrm>
            <a:off x="5372605" y="1432211"/>
            <a:ext cx="3307471" cy="1647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ight Arrow Images – Browse 1,065,975 ..." id="204" name="Google Shape;204;p8"/>
          <p:cNvPicPr preferRelativeResize="0"/>
          <p:nvPr/>
        </p:nvPicPr>
        <p:blipFill rotWithShape="1">
          <a:blip r:embed="rId10">
            <a:alphaModFix/>
          </a:blip>
          <a:srcRect b="32703" l="29181" r="31342" t="31447"/>
          <a:stretch/>
        </p:blipFill>
        <p:spPr>
          <a:xfrm>
            <a:off x="4766419" y="2254641"/>
            <a:ext cx="487037" cy="2095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ight Arrow Images – Browse 1,065,975 ..." id="205" name="Google Shape;205;p8"/>
          <p:cNvPicPr preferRelativeResize="0"/>
          <p:nvPr/>
        </p:nvPicPr>
        <p:blipFill rotWithShape="1">
          <a:blip r:embed="rId10">
            <a:alphaModFix/>
          </a:blip>
          <a:srcRect b="32703" l="29181" r="31342" t="31447"/>
          <a:stretch/>
        </p:blipFill>
        <p:spPr>
          <a:xfrm rot="7860000">
            <a:off x="6637204" y="3755083"/>
            <a:ext cx="618532" cy="219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 txBox="1"/>
          <p:nvPr>
            <p:ph type="title"/>
          </p:nvPr>
        </p:nvSpPr>
        <p:spPr>
          <a:xfrm>
            <a:off x="457200" y="135974"/>
            <a:ext cx="8229600" cy="9564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b="1" lang="en-US"/>
              <a:t>Agent Communication Protocol (ACP)</a:t>
            </a:r>
            <a:endParaRPr/>
          </a:p>
        </p:txBody>
      </p:sp>
      <p:sp>
        <p:nvSpPr>
          <p:cNvPr id="211" name="Google Shape;211;p9"/>
          <p:cNvSpPr txBox="1"/>
          <p:nvPr/>
        </p:nvSpPr>
        <p:spPr>
          <a:xfrm>
            <a:off x="363974" y="5663162"/>
            <a:ext cx="841841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Further Reading: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1. What is Agent Communication Protocol (ACP)?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2. ACP: Official Documentation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" id="212" name="Google Shape;212;p9"/>
          <p:cNvPicPr preferRelativeResize="0"/>
          <p:nvPr/>
        </p:nvPicPr>
        <p:blipFill rotWithShape="1">
          <a:blip r:embed="rId5">
            <a:alphaModFix/>
          </a:blip>
          <a:srcRect b="32374" l="15070" r="13907" t="32374"/>
          <a:stretch/>
        </p:blipFill>
        <p:spPr>
          <a:xfrm>
            <a:off x="457200" y="1096119"/>
            <a:ext cx="1082384" cy="4969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iagram of a multi-agent system&#10;&#10;AI-generated content may be incorrect." id="213" name="Google Shape;213;p9"/>
          <p:cNvPicPr preferRelativeResize="0"/>
          <p:nvPr/>
        </p:nvPicPr>
        <p:blipFill rotWithShape="1">
          <a:blip r:embed="rId6">
            <a:alphaModFix/>
          </a:blip>
          <a:srcRect b="16305" l="0" r="773" t="12618"/>
          <a:stretch/>
        </p:blipFill>
        <p:spPr>
          <a:xfrm>
            <a:off x="0" y="1714500"/>
            <a:ext cx="9144013" cy="3713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/>
          <p:nvPr>
            <p:ph type="title"/>
          </p:nvPr>
        </p:nvSpPr>
        <p:spPr>
          <a:xfrm>
            <a:off x="484965" y="200759"/>
            <a:ext cx="8229600" cy="804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b="1" lang="en-US"/>
              <a:t>Advanced AI Communication Protocols</a:t>
            </a:r>
            <a:endParaRPr/>
          </a:p>
        </p:txBody>
      </p:sp>
      <p:graphicFrame>
        <p:nvGraphicFramePr>
          <p:cNvPr id="219" name="Google Shape;219;p10"/>
          <p:cNvGraphicFramePr/>
          <p:nvPr/>
        </p:nvGraphicFramePr>
        <p:xfrm>
          <a:off x="488102" y="112580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{727F537F-2D07-42D8-9D2D-8AD7FE111F6A}</a:tableStyleId>
              </a:tblPr>
              <a:tblGrid>
                <a:gridCol w="1112650"/>
                <a:gridCol w="2053350"/>
                <a:gridCol w="2498425"/>
                <a:gridCol w="2508525"/>
              </a:tblGrid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Protocol</a:t>
                      </a:r>
                      <a:endParaRPr/>
                    </a:p>
                  </a:txBody>
                  <a:tcPr marT="19050" marB="190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What it is</a:t>
                      </a:r>
                      <a:endParaRPr/>
                    </a:p>
                  </a:txBody>
                  <a:tcPr marT="19050" marB="190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Analogy</a:t>
                      </a:r>
                      <a:endParaRPr/>
                    </a:p>
                  </a:txBody>
                  <a:tcPr marT="19050" marB="190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Best For</a:t>
                      </a:r>
                      <a:endParaRPr/>
                    </a:p>
                  </a:txBody>
                  <a:tcPr marT="19050" marB="190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Agora</a:t>
                      </a:r>
                      <a:endParaRPr/>
                    </a:p>
                  </a:txBody>
                  <a:tcPr marT="19050" marB="190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framework that allows agents to negotiate and agree on which communication protocol to use.</a:t>
                      </a:r>
                      <a:endParaRPr/>
                    </a:p>
                  </a:txBody>
                  <a:tcPr marT="19050" marB="190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 Auction House for Protocols: Agents can autonomously decide which protocol is best for a given task.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Creating a self-organizing ecosystem of agents that can adapt their communication to the situation.</a:t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9050" marB="190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ANP</a:t>
                      </a:r>
                      <a:endParaRPr/>
                    </a:p>
                  </a:txBody>
                  <a:tcPr marT="19050" marB="190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Aims to create a decentralized, open network of all AI agents.</a:t>
                      </a:r>
                      <a:endParaRPr/>
                    </a:p>
                  </a:txBody>
                  <a:tcPr marT="19050" marB="190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The Internet of Agents: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A foundational protocol for a vast, autonomous network.</a:t>
                      </a:r>
                      <a:endParaRPr/>
                    </a:p>
                  </a:txBody>
                  <a:tcPr marT="19050" marB="190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Building a large-scale, decentralized AI ecosystem with no central authority.</a:t>
                      </a:r>
                      <a:endParaRPr/>
                    </a:p>
                  </a:txBody>
                  <a:tcPr marT="19050" marB="190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AGP</a:t>
                      </a:r>
                      <a:endParaRPr/>
                    </a:p>
                  </a:txBody>
                  <a:tcPr marT="19050" marB="190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 high-performance protocol for fast, low-latency agent messaging.</a:t>
                      </a:r>
                      <a:endParaRPr/>
                    </a:p>
                  </a:txBody>
                  <a:tcPr marT="19050" marB="190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 High-Speed Gateway:</a:t>
                      </a: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Ensures quick, secure, and reliable data flow for time-sensitive tasks.</a:t>
                      </a:r>
                      <a:endParaRPr/>
                    </a:p>
                  </a:txBody>
                  <a:tcPr marT="19050" marB="190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Real-time applications, such as a self-driving car communicating with a smart city grid.</a:t>
                      </a:r>
                      <a:endParaRPr/>
                    </a:p>
                  </a:txBody>
                  <a:tcPr marT="19050" marB="19050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2017-04-15T17:01:01Z</dcterms:created>
  <dc:creator>User</dc:creator>
</cp:coreProperties>
</file>